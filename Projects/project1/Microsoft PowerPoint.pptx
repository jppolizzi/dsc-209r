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6860"/>
    <a:srgbClr val="F6EBD4"/>
    <a:srgbClr val="FAFAFA"/>
    <a:srgbClr val="CA0020"/>
    <a:srgbClr val="D01C8B"/>
    <a:srgbClr val="F1A340"/>
    <a:srgbClr val="4DAC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>
        <p:scale>
          <a:sx n="130" d="100"/>
          <a:sy n="130" d="100"/>
        </p:scale>
        <p:origin x="1194" y="-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6446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3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99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2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16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0999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30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577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36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4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9430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1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416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743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197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5445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940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228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60248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281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1441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072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38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877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87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60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19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4C08-FE0E-FC80-DCB9-C437EF424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2702D-587A-CC0A-8835-23893AB15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C8D84-5B87-1EE7-FEF4-4C24E070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3D7A6-BBEC-3020-F3B7-9EDFDCBF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75235-BC35-9DE9-F7C3-0D203A7A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3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79CCE6BA-4405-42A5-8F4B-16EE11E3357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0712330D-9C55-4CF5-8168-FEB9813FF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80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Cupcake outline">
            <a:extLst>
              <a:ext uri="{FF2B5EF4-FFF2-40B4-BE49-F238E27FC236}">
                <a16:creationId xmlns:a16="http://schemas.microsoft.com/office/drawing/2014/main" id="{B0A47E25-1AF0-521A-AF24-FAC6B143D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631080">
            <a:off x="8559705" y="2755257"/>
            <a:ext cx="3861509" cy="3861509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5F781EE7-EE0C-1E5B-9AA3-8AF18AAE1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86" y="1515970"/>
            <a:ext cx="9038148" cy="4272579"/>
          </a:xfrm>
          <a:prstGeom prst="rect">
            <a:avLst/>
          </a:prstGeom>
        </p:spPr>
      </p:pic>
      <p:pic>
        <p:nvPicPr>
          <p:cNvPr id="53" name="Graphic 52" descr="Baguette outline">
            <a:extLst>
              <a:ext uri="{FF2B5EF4-FFF2-40B4-BE49-F238E27FC236}">
                <a16:creationId xmlns:a16="http://schemas.microsoft.com/office/drawing/2014/main" id="{DB109BF8-DACE-B6FB-C956-24ACE227F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617072">
            <a:off x="-382201" y="4693706"/>
            <a:ext cx="3978384" cy="3978384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3D8CF363-9745-75C9-FC49-484B55027769}"/>
              </a:ext>
            </a:extLst>
          </p:cNvPr>
          <p:cNvSpPr/>
          <p:nvPr/>
        </p:nvSpPr>
        <p:spPr>
          <a:xfrm>
            <a:off x="9245537" y="1647724"/>
            <a:ext cx="2597645" cy="14544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C94EE-1220-4707-97F8-AE219A1FC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0" y="197009"/>
            <a:ext cx="11964739" cy="1102179"/>
          </a:xfrm>
        </p:spPr>
        <p:txBody>
          <a:bodyPr anchor="b">
            <a:normAutofit/>
          </a:bodyPr>
          <a:lstStyle/>
          <a:p>
            <a:r>
              <a:rPr lang="en-US" sz="5400" dirty="0"/>
              <a:t>Budget Baking or Breaking the Bank:  </a:t>
            </a:r>
            <a:br>
              <a:rPr lang="en-US" sz="4400" dirty="0"/>
            </a:br>
            <a:r>
              <a:rPr lang="en-US" sz="2800" dirty="0"/>
              <a:t>Whole Foods has the highest share of baking products that are both budget friendly and less-processed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9E329A7-786A-2BBE-DF3B-B988A1B23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221300"/>
              </p:ext>
            </p:extLst>
          </p:nvPr>
        </p:nvGraphicFramePr>
        <p:xfrm>
          <a:off x="9348046" y="1897231"/>
          <a:ext cx="2386553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680">
                  <a:extLst>
                    <a:ext uri="{9D8B030D-6E8A-4147-A177-3AD203B41FA5}">
                      <a16:colId xmlns:a16="http://schemas.microsoft.com/office/drawing/2014/main" val="4218328628"/>
                    </a:ext>
                  </a:extLst>
                </a:gridCol>
                <a:gridCol w="816428">
                  <a:extLst>
                    <a:ext uri="{9D8B030D-6E8A-4147-A177-3AD203B41FA5}">
                      <a16:colId xmlns:a16="http://schemas.microsoft.com/office/drawing/2014/main" val="3204145072"/>
                    </a:ext>
                  </a:extLst>
                </a:gridCol>
                <a:gridCol w="936445">
                  <a:extLst>
                    <a:ext uri="{9D8B030D-6E8A-4147-A177-3AD203B41FA5}">
                      <a16:colId xmlns:a16="http://schemas.microsoft.com/office/drawing/2014/main" val="935804757"/>
                    </a:ext>
                  </a:extLst>
                </a:gridCol>
              </a:tblGrid>
              <a:tr h="3325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06860"/>
                          </a:solidFill>
                        </a:rPr>
                        <a:t>Less Processed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06860"/>
                          </a:solidFill>
                        </a:rPr>
                        <a:t>Ultra Processed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E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498174"/>
                  </a:ext>
                </a:extLst>
              </a:tr>
              <a:tr h="24379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406860"/>
                          </a:solidFill>
                        </a:rPr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37201"/>
                  </a:ext>
                </a:extLst>
              </a:tr>
              <a:tr h="306994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406860"/>
                          </a:solidFill>
                        </a:rPr>
                        <a:t>Pricier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EBD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E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285736"/>
                  </a:ext>
                </a:extLst>
              </a:tr>
            </a:tbl>
          </a:graphicData>
        </a:graphic>
      </p:graphicFrame>
      <p:pic>
        <p:nvPicPr>
          <p:cNvPr id="43" name="Graphic 42" descr="Rolling Pin with solid fill">
            <a:extLst>
              <a:ext uri="{FF2B5EF4-FFF2-40B4-BE49-F238E27FC236}">
                <a16:creationId xmlns:a16="http://schemas.microsoft.com/office/drawing/2014/main" id="{3745CAB9-E364-751B-1332-14C8124E4D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670180">
            <a:off x="10105295" y="2172076"/>
            <a:ext cx="556482" cy="556482"/>
          </a:xfrm>
          <a:prstGeom prst="rect">
            <a:avLst/>
          </a:prstGeom>
        </p:spPr>
      </p:pic>
      <p:pic>
        <p:nvPicPr>
          <p:cNvPr id="45" name="Graphic 44" descr="Rolling Pin with solid fill">
            <a:extLst>
              <a:ext uri="{FF2B5EF4-FFF2-40B4-BE49-F238E27FC236}">
                <a16:creationId xmlns:a16="http://schemas.microsoft.com/office/drawing/2014/main" id="{8CD80B1A-2A33-F9A5-B3AE-122F7FA730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70180">
            <a:off x="10100735" y="2530745"/>
            <a:ext cx="556482" cy="556482"/>
          </a:xfrm>
          <a:prstGeom prst="rect">
            <a:avLst/>
          </a:prstGeom>
        </p:spPr>
      </p:pic>
      <p:pic>
        <p:nvPicPr>
          <p:cNvPr id="47" name="Graphic 46" descr="Rolling Pin with solid fill">
            <a:extLst>
              <a:ext uri="{FF2B5EF4-FFF2-40B4-BE49-F238E27FC236}">
                <a16:creationId xmlns:a16="http://schemas.microsoft.com/office/drawing/2014/main" id="{B07C6554-A5FB-310C-D2DC-3D42140D99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670180">
            <a:off x="10940869" y="2172651"/>
            <a:ext cx="556482" cy="556482"/>
          </a:xfrm>
          <a:prstGeom prst="rect">
            <a:avLst/>
          </a:prstGeom>
        </p:spPr>
      </p:pic>
      <p:pic>
        <p:nvPicPr>
          <p:cNvPr id="49" name="Graphic 48" descr="Rolling Pin with solid fill">
            <a:extLst>
              <a:ext uri="{FF2B5EF4-FFF2-40B4-BE49-F238E27FC236}">
                <a16:creationId xmlns:a16="http://schemas.microsoft.com/office/drawing/2014/main" id="{4B564D47-E5ED-3503-D363-58A5C237DF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670180">
            <a:off x="10956744" y="2528108"/>
            <a:ext cx="556482" cy="556482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796EFA5-1690-7087-F043-E1318B4D16DF}"/>
              </a:ext>
            </a:extLst>
          </p:cNvPr>
          <p:cNvSpPr txBox="1"/>
          <p:nvPr/>
        </p:nvSpPr>
        <p:spPr>
          <a:xfrm>
            <a:off x="9253701" y="1647724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406860"/>
                </a:solidFill>
              </a:rPr>
              <a:t>Product Classification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B84BBA-5AEF-79E7-98BA-1C3563FD2ACD}"/>
              </a:ext>
            </a:extLst>
          </p:cNvPr>
          <p:cNvSpPr txBox="1"/>
          <p:nvPr/>
        </p:nvSpPr>
        <p:spPr>
          <a:xfrm>
            <a:off x="9193791" y="3371877"/>
            <a:ext cx="306808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Walmart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 provides </a:t>
            </a:r>
          </a:p>
          <a:p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more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</a:rPr>
              <a:t>budget friendly 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options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</a:rPr>
              <a:t>overall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endParaRPr lang="en-US" b="1" i="1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Whole Foods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 is the only retailer with substantial share of products that are both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</a:rPr>
              <a:t>budget friendly 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and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</a:rPr>
              <a:t>less-processed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Target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 contains the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</a:rPr>
              <a:t>most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</a:rPr>
              <a:t>ultra-processed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 items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</a:rPr>
              <a:t>overall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.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8C641C-F5B6-F52C-CB3F-3F12E09FC0B9}"/>
              </a:ext>
            </a:extLst>
          </p:cNvPr>
          <p:cNvSpPr txBox="1"/>
          <p:nvPr/>
        </p:nvSpPr>
        <p:spPr>
          <a:xfrm>
            <a:off x="144427" y="5876494"/>
            <a:ext cx="882376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3">
                    <a:lumMod val="50000"/>
                  </a:schemeClr>
                </a:solidFill>
              </a:rPr>
              <a:t>*</a:t>
            </a:r>
            <a:r>
              <a:rPr lang="en-US" sz="1050" dirty="0" err="1">
                <a:solidFill>
                  <a:schemeClr val="accent3">
                    <a:lumMod val="50000"/>
                  </a:schemeClr>
                </a:solidFill>
              </a:rPr>
              <a:t>FPro</a:t>
            </a:r>
            <a:r>
              <a:rPr lang="en-US" sz="1050" dirty="0">
                <a:solidFill>
                  <a:schemeClr val="accent3">
                    <a:lumMod val="50000"/>
                  </a:schemeClr>
                </a:solidFill>
              </a:rPr>
              <a:t> (Food Processing Score) &gt; 0.5 is used as the ultra-processed threshold, calculated from the min and max levels of the upper and </a:t>
            </a:r>
            <a:r>
              <a:rPr lang="en-US" sz="1050">
                <a:solidFill>
                  <a:schemeClr val="accent3">
                    <a:lumMod val="50000"/>
                  </a:schemeClr>
                </a:solidFill>
              </a:rPr>
              <a:t>lower classification levels.</a:t>
            </a:r>
            <a:endParaRPr lang="en-US" sz="105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7D2DD80-D33C-BBFD-E547-0006980B4121}"/>
              </a:ext>
            </a:extLst>
          </p:cNvPr>
          <p:cNvCxnSpPr>
            <a:cxnSpLocks/>
          </p:cNvCxnSpPr>
          <p:nvPr/>
        </p:nvCxnSpPr>
        <p:spPr>
          <a:xfrm>
            <a:off x="1363049" y="4308469"/>
            <a:ext cx="0" cy="118872"/>
          </a:xfrm>
          <a:prstGeom prst="line">
            <a:avLst/>
          </a:prstGeom>
          <a:ln>
            <a:solidFill>
              <a:srgbClr val="406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4F8880D-0EA1-DC22-D8E3-C78B589F575E}"/>
              </a:ext>
            </a:extLst>
          </p:cNvPr>
          <p:cNvCxnSpPr>
            <a:cxnSpLocks/>
          </p:cNvCxnSpPr>
          <p:nvPr/>
        </p:nvCxnSpPr>
        <p:spPr>
          <a:xfrm>
            <a:off x="2166307" y="4297680"/>
            <a:ext cx="0" cy="128016"/>
          </a:xfrm>
          <a:prstGeom prst="line">
            <a:avLst/>
          </a:prstGeom>
          <a:ln>
            <a:solidFill>
              <a:srgbClr val="406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779DB0F-83EA-65DA-B568-6148CA1BF712}"/>
              </a:ext>
            </a:extLst>
          </p:cNvPr>
          <p:cNvCxnSpPr>
            <a:cxnSpLocks/>
          </p:cNvCxnSpPr>
          <p:nvPr/>
        </p:nvCxnSpPr>
        <p:spPr>
          <a:xfrm flipH="1">
            <a:off x="1353002" y="4308470"/>
            <a:ext cx="815590" cy="0"/>
          </a:xfrm>
          <a:prstGeom prst="line">
            <a:avLst/>
          </a:prstGeom>
          <a:ln>
            <a:solidFill>
              <a:srgbClr val="406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6B1117A-1F74-5741-E06B-2A96FEC59CA8}"/>
              </a:ext>
            </a:extLst>
          </p:cNvPr>
          <p:cNvCxnSpPr>
            <a:cxnSpLocks/>
          </p:cNvCxnSpPr>
          <p:nvPr/>
        </p:nvCxnSpPr>
        <p:spPr>
          <a:xfrm>
            <a:off x="1738386" y="4182213"/>
            <a:ext cx="0" cy="128824"/>
          </a:xfrm>
          <a:prstGeom prst="line">
            <a:avLst/>
          </a:prstGeom>
          <a:ln>
            <a:solidFill>
              <a:srgbClr val="406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899DAC18-9441-8249-784C-EE6243C24E60}"/>
              </a:ext>
            </a:extLst>
          </p:cNvPr>
          <p:cNvSpPr/>
          <p:nvPr/>
        </p:nvSpPr>
        <p:spPr>
          <a:xfrm>
            <a:off x="825162" y="3948708"/>
            <a:ext cx="1846481" cy="289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4068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3">
                    <a:lumMod val="50000"/>
                  </a:schemeClr>
                </a:solidFill>
              </a:rPr>
              <a:t>2.5x more budget friendly, less processed than Walmart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877FB20-68FB-D042-FAFC-6FE82DE4E5EF}"/>
              </a:ext>
            </a:extLst>
          </p:cNvPr>
          <p:cNvCxnSpPr>
            <a:cxnSpLocks/>
          </p:cNvCxnSpPr>
          <p:nvPr/>
        </p:nvCxnSpPr>
        <p:spPr>
          <a:xfrm flipH="1">
            <a:off x="815907" y="2783150"/>
            <a:ext cx="4715122" cy="0"/>
          </a:xfrm>
          <a:prstGeom prst="line">
            <a:avLst/>
          </a:prstGeom>
          <a:ln>
            <a:solidFill>
              <a:srgbClr val="406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11D96E9-5948-5766-9694-6770C0C8D71F}"/>
              </a:ext>
            </a:extLst>
          </p:cNvPr>
          <p:cNvCxnSpPr>
            <a:cxnSpLocks/>
          </p:cNvCxnSpPr>
          <p:nvPr/>
        </p:nvCxnSpPr>
        <p:spPr>
          <a:xfrm>
            <a:off x="815907" y="2647978"/>
            <a:ext cx="0" cy="141882"/>
          </a:xfrm>
          <a:prstGeom prst="line">
            <a:avLst/>
          </a:prstGeom>
          <a:ln>
            <a:solidFill>
              <a:srgbClr val="406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1C777A0-37B2-C994-F050-B5C5A318F4EF}"/>
              </a:ext>
            </a:extLst>
          </p:cNvPr>
          <p:cNvCxnSpPr>
            <a:cxnSpLocks/>
          </p:cNvCxnSpPr>
          <p:nvPr/>
        </p:nvCxnSpPr>
        <p:spPr>
          <a:xfrm>
            <a:off x="5531029" y="2647981"/>
            <a:ext cx="0" cy="141882"/>
          </a:xfrm>
          <a:prstGeom prst="line">
            <a:avLst/>
          </a:prstGeom>
          <a:ln>
            <a:solidFill>
              <a:srgbClr val="406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F3D4D9C-3203-D04D-6BE1-6BB8E76D8087}"/>
              </a:ext>
            </a:extLst>
          </p:cNvPr>
          <p:cNvCxnSpPr>
            <a:cxnSpLocks/>
          </p:cNvCxnSpPr>
          <p:nvPr/>
        </p:nvCxnSpPr>
        <p:spPr>
          <a:xfrm>
            <a:off x="2924455" y="2776163"/>
            <a:ext cx="0" cy="128824"/>
          </a:xfrm>
          <a:prstGeom prst="line">
            <a:avLst/>
          </a:prstGeom>
          <a:ln>
            <a:solidFill>
              <a:srgbClr val="406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FEFAF395-E06E-9C32-B83B-7388EE745E20}"/>
              </a:ext>
            </a:extLst>
          </p:cNvPr>
          <p:cNvSpPr/>
          <p:nvPr/>
        </p:nvSpPr>
        <p:spPr>
          <a:xfrm>
            <a:off x="1629361" y="2889085"/>
            <a:ext cx="2584832" cy="2258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4068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3">
                    <a:lumMod val="50000"/>
                  </a:schemeClr>
                </a:solidFill>
              </a:rPr>
              <a:t>%60.1 of baking products are budget friendly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0B39922-9EA3-466F-CC83-BF992D909344}"/>
              </a:ext>
            </a:extLst>
          </p:cNvPr>
          <p:cNvSpPr/>
          <p:nvPr/>
        </p:nvSpPr>
        <p:spPr>
          <a:xfrm>
            <a:off x="5319406" y="3922798"/>
            <a:ext cx="3164219" cy="2258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4068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3">
                    <a:lumMod val="50000"/>
                  </a:schemeClr>
                </a:solidFill>
              </a:rPr>
              <a:t>%92.8 of Target baking products are Ultra-Processed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B36B1-53D7-0C19-2339-0FCDD7AE4CED}"/>
              </a:ext>
            </a:extLst>
          </p:cNvPr>
          <p:cNvSpPr txBox="1"/>
          <p:nvPr/>
        </p:nvSpPr>
        <p:spPr>
          <a:xfrm>
            <a:off x="133186" y="6535309"/>
            <a:ext cx="8823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3">
                    <a:lumMod val="50000"/>
                  </a:schemeClr>
                </a:solidFill>
              </a:rPr>
              <a:t>Source: </a:t>
            </a:r>
            <a:r>
              <a:rPr lang="en-US" sz="1100" dirty="0" err="1">
                <a:solidFill>
                  <a:schemeClr val="accent3">
                    <a:lumMod val="50000"/>
                  </a:schemeClr>
                </a:solidFill>
              </a:rPr>
              <a:t>GroceryDB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80B045-C86D-A74E-8E73-FDB5018CD569}"/>
              </a:ext>
            </a:extLst>
          </p:cNvPr>
          <p:cNvCxnSpPr>
            <a:cxnSpLocks/>
          </p:cNvCxnSpPr>
          <p:nvPr/>
        </p:nvCxnSpPr>
        <p:spPr>
          <a:xfrm flipH="1">
            <a:off x="2895082" y="3837214"/>
            <a:ext cx="2159" cy="192351"/>
          </a:xfrm>
          <a:prstGeom prst="line">
            <a:avLst/>
          </a:prstGeom>
          <a:ln>
            <a:solidFill>
              <a:srgbClr val="406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328A06-8145-DB6F-E6CE-CA1959AD3BEC}"/>
              </a:ext>
            </a:extLst>
          </p:cNvPr>
          <p:cNvCxnSpPr>
            <a:cxnSpLocks/>
            <a:stCxn id="86" idx="1"/>
          </p:cNvCxnSpPr>
          <p:nvPr/>
        </p:nvCxnSpPr>
        <p:spPr>
          <a:xfrm flipH="1" flipV="1">
            <a:off x="2895082" y="4029565"/>
            <a:ext cx="2424324" cy="6143"/>
          </a:xfrm>
          <a:prstGeom prst="line">
            <a:avLst/>
          </a:prstGeom>
          <a:ln>
            <a:solidFill>
              <a:srgbClr val="406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BCC3CBE-6CC8-5940-CB09-C93208184D50}"/>
              </a:ext>
            </a:extLst>
          </p:cNvPr>
          <p:cNvCxnSpPr>
            <a:cxnSpLocks/>
            <a:endCxn id="86" idx="0"/>
          </p:cNvCxnSpPr>
          <p:nvPr/>
        </p:nvCxnSpPr>
        <p:spPr>
          <a:xfrm>
            <a:off x="6901516" y="3837214"/>
            <a:ext cx="0" cy="85584"/>
          </a:xfrm>
          <a:prstGeom prst="line">
            <a:avLst/>
          </a:prstGeom>
          <a:ln>
            <a:solidFill>
              <a:srgbClr val="406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303637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Metadata/LabelInfo.xml><?xml version="1.0" encoding="utf-8"?>
<clbl:labelList xmlns:clbl="http://schemas.microsoft.com/office/2020/mipLabelMetadata">
  <clbl:label id="{08f6f869-1ed0-46b3-a227-1d3e52347e28}" enabled="1" method="Standard" siteId="{98e9ba89-e1a1-4e38-9007-8bdabc25de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268</TotalTime>
  <Words>126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JasmineUPC</vt:lpstr>
      <vt:lpstr>Raleway</vt:lpstr>
      <vt:lpstr>School Days</vt:lpstr>
      <vt:lpstr>Budget Baking or Breaking the Bank:   Whole Foods has the highest share of baking products that are both budget friendly and less-processed</vt:lpstr>
    </vt:vector>
  </TitlesOfParts>
  <Company>Qualcomm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Polizzi</dc:creator>
  <cp:lastModifiedBy>Joel Polizzi</cp:lastModifiedBy>
  <cp:revision>2</cp:revision>
  <dcterms:created xsi:type="dcterms:W3CDTF">2026-10-05T15:52:54Z</dcterms:created>
  <dcterms:modified xsi:type="dcterms:W3CDTF">2026-10-05T22:09:06Z</dcterms:modified>
</cp:coreProperties>
</file>